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4991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four-member structure that the rest of the deck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stages left to right: ingestion, preprocessing and EDA, ML and inference, SQL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566400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89722"/>
            <a:ext cx="10566400" cy="415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566400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89722"/>
            <a:ext cx="10566400" cy="415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21193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MACHINE LEARNING + BUSINESS ANALYTICS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08820"/>
            <a:ext cx="10883392" cy="1412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Customer Churn Prediction System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898834"/>
            <a:ext cx="1088339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at-risk subscribers on the Cell2Cell telecom dataset (~71,000 records) with serverless AWS services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4787834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01 Ingestion · Member 02 Preprocessing and EDA · Member 03 Model training · Member 04 SQL analytics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37907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serverless architecture</a:t>
            </a:r>
            <a:endParaRPr lang="en-US" sz="3200" dirty="0"/>
          </a:p>
        </p:txBody>
      </p:sp>
      <p:pic>
        <p:nvPicPr>
          <p:cNvPr id="4" name="Image 0" descr="Architecture diagram: ingestion, preprocessing, ML and SQL analytics stages on AWS"/>
          <p:cNvPicPr>
            <a:picLocks noChangeAspect="1"/>
          </p:cNvPicPr>
          <p:nvPr/>
        </p:nvPicPr>
        <p:blipFill>
          <a:blip r:embed="rId3"/>
          <a:srcRect l="-29" r="-29"/>
          <a:stretch/>
        </p:blipFill>
        <p:spPr>
          <a:xfrm>
            <a:off x="812800" y="1838920"/>
            <a:ext cx="1056640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521920"/>
            <a:ext cx="10883392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Bucket: churnpredictionaws-team-2026. Each member works under a least-privilege IAM policy.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Customer Churn Prediction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62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4"/>
              </a:lnSpc>
              <a:buNone/>
            </a:pPr>
            <a:r>
              <a:rPr lang="en-US" sz="1339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02 · PREPROCESSING</a:t>
            </a:r>
            <a:endParaRPr lang="en-US" sz="1339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6465"/>
            <a:ext cx="10883392" cy="451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6"/>
              </a:lnSpc>
              <a:buNone/>
            </a:pPr>
            <a:r>
              <a:rPr lang="en-US" sz="3060" b="1" i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the Cell2Cell data</a:t>
            </a:r>
            <a:endParaRPr lang="en-US" sz="3060" dirty="0"/>
          </a:p>
        </p:txBody>
      </p:sp>
      <p:sp>
        <p:nvSpPr>
          <p:cNvPr id="4" name="Shape 2"/>
          <p:cNvSpPr/>
          <p:nvPr/>
        </p:nvSpPr>
        <p:spPr>
          <a:xfrm>
            <a:off x="812800" y="1806907"/>
            <a:ext cx="6350000" cy="389255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/>
        </p:spPr>
      </p:sp>
      <p:pic>
        <p:nvPicPr>
          <p:cNvPr id="5" name="Image 0" descr="Missing values bar chart"/>
          <p:cNvPicPr>
            <a:picLocks noChangeAspect="1"/>
          </p:cNvPicPr>
          <p:nvPr/>
        </p:nvPicPr>
        <p:blipFill>
          <a:blip r:embed="rId3"/>
          <a:srcRect t="-17" b="-17"/>
          <a:stretch/>
        </p:blipFill>
        <p:spPr>
          <a:xfrm>
            <a:off x="914400" y="1908507"/>
            <a:ext cx="6146800" cy="36893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5801057"/>
            <a:ext cx="6540500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 by feature in the raw training data.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16800" y="1806907"/>
            <a:ext cx="1905000" cy="1170781"/>
          </a:xfrm>
          <a:prstGeom prst="roundRect">
            <a:avLst>
              <a:gd name="adj" fmla="val 10847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7620000" y="1984707"/>
            <a:ext cx="1549400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51,047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620000" y="2370733"/>
            <a:ext cx="1549400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rows × 69 columns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474200" y="1806907"/>
            <a:ext cx="1905000" cy="1170781"/>
          </a:xfrm>
          <a:prstGeom prst="roundRect">
            <a:avLst>
              <a:gd name="adj" fmla="val 10847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9677400" y="1984707"/>
            <a:ext cx="1549400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677400" y="2370733"/>
            <a:ext cx="1549400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 rows × 69 columns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514844" y="3130088"/>
            <a:ext cx="3975608" cy="1362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features had missing values, at most 1.78% each</a:t>
            </a:r>
            <a:endParaRPr lang="en-US" sz="1300" dirty="0"/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imputation fitted on train only, so nothing leaks into the holdout</a:t>
            </a:r>
            <a:endParaRPr lang="en-US" sz="1300" dirty="0"/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ServiceArea gaps set to UNKNOWN; CustomerID kept for Athena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Customer Churn Prediction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62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4"/>
              </a:lnSpc>
              <a:buNone/>
            </a:pPr>
            <a:r>
              <a:rPr lang="en-US" sz="1339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02 · EDA</a:t>
            </a:r>
            <a:endParaRPr lang="en-US" sz="1339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6465"/>
            <a:ext cx="10883392" cy="451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6"/>
              </a:lnSpc>
              <a:buNone/>
            </a:pPr>
            <a:r>
              <a:rPr lang="en-US" sz="3060" b="1" i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imbalance and churn correlations</a:t>
            </a:r>
            <a:endParaRPr lang="en-US" sz="3060" dirty="0"/>
          </a:p>
        </p:txBody>
      </p:sp>
      <p:sp>
        <p:nvSpPr>
          <p:cNvPr id="4" name="Shape 2"/>
          <p:cNvSpPr/>
          <p:nvPr/>
        </p:nvSpPr>
        <p:spPr>
          <a:xfrm>
            <a:off x="812800" y="1806907"/>
            <a:ext cx="6350000" cy="389255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/>
        </p:spPr>
      </p:sp>
      <p:pic>
        <p:nvPicPr>
          <p:cNvPr id="5" name="Image 0" descr="Feature correlations with churn"/>
          <p:cNvPicPr>
            <a:picLocks noChangeAspect="1"/>
          </p:cNvPicPr>
          <p:nvPr/>
        </p:nvPicPr>
        <p:blipFill>
          <a:blip r:embed="rId3"/>
          <a:srcRect t="-17" b="-17"/>
          <a:stretch/>
        </p:blipFill>
        <p:spPr>
          <a:xfrm>
            <a:off x="914400" y="1908507"/>
            <a:ext cx="6146800" cy="36893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5801057"/>
            <a:ext cx="6540500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features ranked by correlation with churn.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16800" y="1806907"/>
            <a:ext cx="3962400" cy="210820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/>
        </p:spPr>
      </p:sp>
      <p:pic>
        <p:nvPicPr>
          <p:cNvPr id="8" name="Image 1" descr="Churn distribution char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18400" y="1908507"/>
            <a:ext cx="2667000" cy="1905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14844" y="4067507"/>
            <a:ext cx="3975608" cy="1139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28.82% churned vs 71.18% retained, a 2.47 : 1 imbalance</a:t>
            </a:r>
            <a:endParaRPr lang="en-US" sz="1300" dirty="0"/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Handset age (+0.10) and retention calls (+0.07) correlate most with churn; recurring charge (−0.06) and minutes (−0.05) with loyalty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Customer Churn Prediction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02 · EDA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and handset age by churn status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38920"/>
            <a:ext cx="5156200" cy="33020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</p:sp>
      <p:pic>
        <p:nvPicPr>
          <p:cNvPr id="5" name="Image 0" descr="Monthly revenue distribution by churn status"/>
          <p:cNvPicPr>
            <a:picLocks noChangeAspect="1"/>
          </p:cNvPicPr>
          <p:nvPr/>
        </p:nvPicPr>
        <p:blipFill>
          <a:blip r:embed="rId3"/>
          <a:srcRect t="-51" b="-51"/>
          <a:stretch/>
        </p:blipFill>
        <p:spPr>
          <a:xfrm>
            <a:off x="914400" y="1940520"/>
            <a:ext cx="4953000" cy="309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5242520"/>
            <a:ext cx="5310886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distributions of churned and retained customers almost overlap, so revenue alone barely separates them.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23000" y="1838920"/>
            <a:ext cx="5156200" cy="33020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</p:sp>
      <p:pic>
        <p:nvPicPr>
          <p:cNvPr id="8" name="Image 1" descr="Equipment age versus churn status"/>
          <p:cNvPicPr>
            <a:picLocks noChangeAspect="1"/>
          </p:cNvPicPr>
          <p:nvPr/>
        </p:nvPicPr>
        <p:blipFill>
          <a:blip r:embed="rId4"/>
          <a:srcRect t="-51" b="-51"/>
          <a:stretch/>
        </p:blipFill>
        <p:spPr>
          <a:xfrm>
            <a:off x="6324600" y="1940520"/>
            <a:ext cx="4953000" cy="3098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23000" y="5242520"/>
            <a:ext cx="5310886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Churned customers hold older handsets, with a higher median age than retained customers.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Customer Churn Prediction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03 · MODEL TRAINING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the champion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185957"/>
            <a:ext cx="6350000" cy="299720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</p:spPr>
      </p:sp>
      <p:pic>
        <p:nvPicPr>
          <p:cNvPr id="5" name="Image 0" descr="Bar chart of cross-validated ROC-AUC by model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2287557"/>
            <a:ext cx="6146800" cy="2794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16800" y="2185957"/>
            <a:ext cx="3962400" cy="1226675"/>
          </a:xfrm>
          <a:prstGeom prst="roundRect">
            <a:avLst>
              <a:gd name="adj" fmla="val 10353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0" y="2363757"/>
            <a:ext cx="36626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0.672+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620000" y="2805678"/>
            <a:ext cx="3662680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CV ROC-AUC (HistGradientBoosting)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14844" y="3565033"/>
            <a:ext cx="3975608" cy="1139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5-fold CV with balanced class weights</a:t>
            </a:r>
            <a:endParaRPr lang="en-US" sz="1300" dirty="0"/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ColumnTransformer: median imputation, scaling, one-hot encoding</a:t>
            </a:r>
            <a:endParaRPr lang="en-US" sz="1300" dirty="0"/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as best_model_HistGradientBoosting.joblib in S3 models/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Customer Churn Prediction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03 · BATCH INFERENCE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20,000 holdout customers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116872"/>
            <a:ext cx="6350000" cy="2400300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/>
        </p:spPr>
      </p:sp>
      <p:pic>
        <p:nvPicPr>
          <p:cNvPr id="5" name="Image 0" descr="Risk segmentation and revenue chart"/>
          <p:cNvPicPr>
            <a:picLocks noChangeAspect="1"/>
          </p:cNvPicPr>
          <p:nvPr/>
        </p:nvPicPr>
        <p:blipFill>
          <a:blip r:embed="rId3"/>
          <a:srcRect t="-41" b="-41"/>
          <a:stretch/>
        </p:blipFill>
        <p:spPr>
          <a:xfrm>
            <a:off x="914400" y="2218472"/>
            <a:ext cx="6146800" cy="21971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800" y="4618772"/>
            <a:ext cx="2015067" cy="1056481"/>
          </a:xfrm>
          <a:prstGeom prst="roundRect">
            <a:avLst>
              <a:gd name="adj" fmla="val 12021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990600" y="4771172"/>
            <a:ext cx="1710267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90600" y="5093701"/>
            <a:ext cx="1710267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2,382 customers</a:t>
            </a:r>
            <a:endParaRPr lang="en-US" sz="1300" dirty="0"/>
          </a:p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65%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980267" y="4618772"/>
            <a:ext cx="2015067" cy="1056481"/>
          </a:xfrm>
          <a:prstGeom prst="roundRect">
            <a:avLst>
              <a:gd name="adj" fmla="val 12021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3158067" y="4771172"/>
            <a:ext cx="1710267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risk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158067" y="5093701"/>
            <a:ext cx="1710267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12,926 customers</a:t>
            </a:r>
            <a:endParaRPr lang="en-US" sz="1300" dirty="0"/>
          </a:p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to 65%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147733" y="4618772"/>
            <a:ext cx="2015067" cy="1056481"/>
          </a:xfrm>
          <a:prstGeom prst="roundRect">
            <a:avLst>
              <a:gd name="adj" fmla="val 12021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5325533" y="4771172"/>
            <a:ext cx="1710267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25533" y="5093701"/>
            <a:ext cx="1710267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4,692 customers</a:t>
            </a:r>
            <a:endParaRPr lang="en-US" sz="1300" dirty="0"/>
          </a:p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35%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416800" y="2116872"/>
            <a:ext cx="3962400" cy="1012097"/>
          </a:xfrm>
          <a:prstGeom prst="roundRect">
            <a:avLst>
              <a:gd name="adj" fmla="val 12548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7620000" y="2294672"/>
            <a:ext cx="36626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11.91%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7620000" y="2736593"/>
            <a:ext cx="3662680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customers fall in the high-risk tier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416800" y="3281372"/>
            <a:ext cx="3962400" cy="1012097"/>
          </a:xfrm>
          <a:prstGeom prst="roundRect">
            <a:avLst>
              <a:gd name="adj" fmla="val 12548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7620000" y="3459172"/>
            <a:ext cx="36626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$139K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7620000" y="3901092"/>
            <a:ext cx="3662680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 at risk in the high tier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416800" y="4445868"/>
            <a:ext cx="3962400" cy="1012097"/>
          </a:xfrm>
          <a:prstGeom prst="roundRect">
            <a:avLst>
              <a:gd name="adj" fmla="val 12548"/>
            </a:avLst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7620000" y="4623668"/>
            <a:ext cx="36626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$1.67M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620000" y="5065588"/>
            <a:ext cx="3662680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exposure in the high tier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Customer Churn Prediction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04 · SQL QUERYING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 SQL for churn analytics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93928" y="1940520"/>
            <a:ext cx="6350000" cy="3276600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/>
        </p:spPr>
      </p:sp>
      <p:pic>
        <p:nvPicPr>
          <p:cNvPr id="5" name="Image 0" descr="Service area churn char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5528" y="2042120"/>
            <a:ext cx="6146800" cy="307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3928" y="5318720"/>
            <a:ext cx="6540500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3 ranks service areas by high-risk customers: NYCBRO917 (74), DALFTW817 (68) and LOSLAX213 (61).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297928" y="1940520"/>
            <a:ext cx="3962400" cy="401307"/>
          </a:xfrm>
          <a:prstGeom prst="roundRect">
            <a:avLst>
              <a:gd name="adj" fmla="val 18988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7450328" y="2016720"/>
            <a:ext cx="4572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83728" y="2016720"/>
            <a:ext cx="175514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segmentation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297928" y="2405329"/>
            <a:ext cx="3962400" cy="401307"/>
          </a:xfrm>
          <a:prstGeom prst="roundRect">
            <a:avLst>
              <a:gd name="adj" fmla="val 18988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7450328" y="2481529"/>
            <a:ext cx="4572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83728" y="2481529"/>
            <a:ext cx="189745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profile by tier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297928" y="2870135"/>
            <a:ext cx="3962400" cy="401307"/>
          </a:xfrm>
          <a:prstGeom prst="roundRect">
            <a:avLst>
              <a:gd name="adj" fmla="val 18988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7450328" y="2946335"/>
            <a:ext cx="4572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983728" y="2946335"/>
            <a:ext cx="130444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areas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297928" y="3334941"/>
            <a:ext cx="3962400" cy="401307"/>
          </a:xfrm>
          <a:prstGeom prst="roundRect">
            <a:avLst>
              <a:gd name="adj" fmla="val 18988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7450328" y="3411141"/>
            <a:ext cx="4572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983728" y="3411141"/>
            <a:ext cx="143533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age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297928" y="3799749"/>
            <a:ext cx="3962400" cy="401307"/>
          </a:xfrm>
          <a:prstGeom prst="roundRect">
            <a:avLst>
              <a:gd name="adj" fmla="val 18988"/>
            </a:avLst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7450328" y="3875949"/>
            <a:ext cx="4572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983728" y="3875949"/>
            <a:ext cx="135199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ROI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297928" y="4264558"/>
            <a:ext cx="3962400" cy="401307"/>
          </a:xfrm>
          <a:prstGeom prst="roundRect">
            <a:avLst>
              <a:gd name="adj" fmla="val 18988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7450328" y="4340758"/>
            <a:ext cx="4572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983728" y="4340758"/>
            <a:ext cx="116212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rating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297928" y="4729361"/>
            <a:ext cx="3962400" cy="401307"/>
          </a:xfrm>
          <a:prstGeom prst="roundRect">
            <a:avLst>
              <a:gd name="adj" fmla="val 18988"/>
            </a:avLst>
          </a:pr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7450328" y="4805561"/>
            <a:ext cx="4572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983728" y="4805561"/>
            <a:ext cx="173148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 targets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297928" y="5283070"/>
            <a:ext cx="4081272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queries on churn_db.customer_predictions, run serverlessly in Athena.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Customer Churn Prediction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04 · BUSINESS INSIGHTS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churn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38920"/>
            <a:ext cx="6350000" cy="3276600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/>
        </p:spPr>
      </p:sp>
      <p:pic>
        <p:nvPicPr>
          <p:cNvPr id="5" name="Image 0" descr="Equipment age and churn risk char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1940520"/>
            <a:ext cx="6146800" cy="307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5217120"/>
            <a:ext cx="6540500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probability rises with handset age; refurbished-phone owners run 2.5 to 4.0 points higher at every age.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16800" y="1838920"/>
            <a:ext cx="3962400" cy="1170781"/>
          </a:xfrm>
          <a:prstGeom prst="roundRect">
            <a:avLst>
              <a:gd name="adj" fmla="val 10847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7620000" y="2016720"/>
            <a:ext cx="3662680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 → 51%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620000" y="2402749"/>
            <a:ext cx="3662680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probability, handset under 6 months vs over 2 years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16800" y="3162102"/>
            <a:ext cx="3962400" cy="1170781"/>
          </a:xfrm>
          <a:prstGeom prst="roundRect">
            <a:avLst>
              <a:gd name="adj" fmla="val 10847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7620000" y="3339902"/>
            <a:ext cx="3662680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53.6% vs 44.1%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620000" y="3725931"/>
            <a:ext cx="3662680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probability, customers who called retention vs not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416800" y="4485283"/>
            <a:ext cx="3962400" cy="1170781"/>
          </a:xfrm>
          <a:prstGeom prst="roundRect">
            <a:avLst>
              <a:gd name="adj" fmla="val 10847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7620000" y="4663083"/>
            <a:ext cx="3662680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49.2%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620000" y="5049112"/>
            <a:ext cx="3662680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probability even after accepting a retention offer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Customer Churn Prediction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82735" y="2385024"/>
            <a:ext cx="3386667" cy="1226675"/>
          </a:xfrm>
          <a:prstGeom prst="roundRect">
            <a:avLst>
              <a:gd name="adj" fmla="val 10353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85935" y="2562824"/>
            <a:ext cx="306967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2,382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85935" y="3004745"/>
            <a:ext cx="3069675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high-risk customers worth $1.67M a year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72602" y="2385024"/>
            <a:ext cx="3386667" cy="1226675"/>
          </a:xfrm>
          <a:prstGeom prst="roundRect">
            <a:avLst>
              <a:gd name="adj" fmla="val 10353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5802" y="2562824"/>
            <a:ext cx="306967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year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5802" y="3004745"/>
            <a:ext cx="3069675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handset upgrades once devices pass about 1 year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62469" y="2385024"/>
            <a:ext cx="3386667" cy="1226675"/>
          </a:xfrm>
          <a:prstGeom prst="roundRect">
            <a:avLst>
              <a:gd name="adj" fmla="val 10353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8165669" y="2562824"/>
            <a:ext cx="306967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165669" y="3004745"/>
            <a:ext cx="3069675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retention outreach before customers call to cancel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2735" y="3865703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stage runs locally or on AWS with python pipeline.py --mode cloud, under least-privilege IAM.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Customer Churn Prediction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WS Customer Churn Prediction System">
  <a:themeElements>
    <a:clrScheme name="AWS Customer Churn Prediction System">
      <a:dk1>
        <a:srgbClr val="0F172A"/>
      </a:dk1>
      <a:lt1>
        <a:srgbClr val="F3F5F9"/>
      </a:lt1>
      <a:dk2>
        <a:srgbClr val="484F5E"/>
      </a:dk2>
      <a:lt2>
        <a:srgbClr val="DCDFE4"/>
      </a:lt2>
      <a:accent1>
        <a:srgbClr val="C2410C"/>
      </a:accent1>
      <a:accent2>
        <a:srgbClr val="F97316"/>
      </a:accent2>
      <a:accent3>
        <a:srgbClr val="0F766E"/>
      </a:accent3>
      <a:accent4>
        <a:srgbClr val="475569"/>
      </a:accent4>
      <a:accent5>
        <a:srgbClr val="94A3B8"/>
      </a:accent5>
      <a:accent6>
        <a:srgbClr val="CBD5E1"/>
      </a:accent6>
      <a:hlink>
        <a:srgbClr val="0563C1"/>
      </a:hlink>
      <a:folHlink>
        <a:srgbClr val="954F72"/>
      </a:folHlink>
    </a:clrScheme>
    <a:fontScheme name="AWS Customer Churn Prediction Syste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620</Words>
  <Application>Microsoft Office PowerPoint</Application>
  <PresentationFormat>Widescreen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AWS Customer Churn Prediction System</vt:lpstr>
      <vt:lpstr>AWS Customer Churn Prediction System</vt:lpstr>
      <vt:lpstr>End-to-end serverless architecture</vt:lpstr>
      <vt:lpstr>Cleaning the Cell2Cell data</vt:lpstr>
      <vt:lpstr>Target imbalance and churn correlations</vt:lpstr>
      <vt:lpstr>Revenue and handset age by churn status</vt:lpstr>
      <vt:lpstr>Training the champion model</vt:lpstr>
      <vt:lpstr>Scoring 20,000 holdout customers</vt:lpstr>
      <vt:lpstr>Athena SQL for churn analytics</vt:lpstr>
      <vt:lpstr>What drives churn</vt:lpstr>
      <vt:lpstr>Recommendations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Customer Churn Prediction System</dc:title>
  <dc:subject/>
  <dc:creator/>
  <cp:lastModifiedBy>Pooja</cp:lastModifiedBy>
  <cp:revision>2</cp:revision>
  <dcterms:created xsi:type="dcterms:W3CDTF">2026-10-12T13:05:42Z</dcterms:created>
  <dcterms:modified xsi:type="dcterms:W3CDTF">2026-10-12T13:13:07Z</dcterms:modified>
</cp:coreProperties>
</file>